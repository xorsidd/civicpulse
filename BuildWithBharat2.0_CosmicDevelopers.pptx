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1091672" cy="5760720"/>
          </a:xfrm>
          <a:prstGeom prst="roundRect">
            <a:avLst>
              <a:gd name="adj" fmla="val 3175"/>
            </a:avLst>
          </a:prstGeom>
          <a:solidFill>
            <a:srgbClr val="131E35"/>
          </a:solidFill>
          <a:ln w="254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931920" y="822960"/>
            <a:ext cx="4297680" cy="411480"/>
          </a:xfrm>
          <a:prstGeom prst="roundRect">
            <a:avLst>
              <a:gd name="adj" fmla="val 22222"/>
            </a:avLst>
          </a:prstGeom>
          <a:solidFill>
            <a:srgbClr val="1E293B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931920" y="86868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LEVEL HACKATHON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" y="132588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WITH BHARAT 2.0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CivicPulse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371600" y="265176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Next-Gen AI-Powered Civic Issue Intelligence &amp; Automated Resolution Platform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97280" y="3200400"/>
            <a:ext cx="4754880" cy="2651760"/>
          </a:xfrm>
          <a:prstGeom prst="roundRect">
            <a:avLst>
              <a:gd name="adj" fmla="val 517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0160" y="33832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80160" y="3703320"/>
            <a:ext cx="4389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Municipal Governance &amp; Infrastructure Management: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Transforming fragmented, duplicated citizen complaints into structured, AI-validated, clustered &amp; auto-prioritized municipal intelligence with closed-loop verification.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3200400"/>
            <a:ext cx="4846320" cy="2651760"/>
          </a:xfrm>
          <a:prstGeom prst="roundRect">
            <a:avLst>
              <a:gd name="adj" fmla="val 517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33832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INFORMATION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0" y="3703320"/>
            <a:ext cx="4480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</a:rPr>
              <a:t>Team Name: </a:t>
            </a:r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Cosmic Developers
</a:t>
            </a:r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</a:rPr>
              <a:t>Team Members (2): 
</a:t>
            </a:r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• Siddharth (Lead Full-Stack &amp; System Architect)
• Co-Developer (AI &amp; Backend Engineer)
</a:t>
            </a:r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</a:rPr>
              <a:t>College / Institute: </a:t>
            </a:r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Engineering &amp; Technology Institute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37160" cy="5029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47472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WITH BHARAT 2.0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" y="530352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Statement: Civic Grievance Bottlenecks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11091672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WITH BHARAT 2.0  |  TEAM COSMIC DEVELOPERS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86968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CIVICPULSE PLATFORM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234440"/>
            <a:ext cx="5394960" cy="2240280"/>
          </a:xfrm>
          <a:prstGeom prst="roundRect">
            <a:avLst>
              <a:gd name="adj" fmla="val 489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234440"/>
            <a:ext cx="137160" cy="22402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4173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Duplicate Complaint Overload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1783080"/>
            <a:ext cx="48463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70% of municipal reports are redundant duplicates for the same issue (e.g. pothole on main road), choking department queues and exhausting manual review teams.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234440"/>
            <a:ext cx="5394960" cy="2240280"/>
          </a:xfrm>
          <a:prstGeom prst="roundRect">
            <a:avLst>
              <a:gd name="adj" fmla="val 489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234440"/>
            <a:ext cx="137160" cy="2240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14173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Zero Automated Prioritization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37960" y="1783080"/>
            <a:ext cx="48463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portals treat minor cosmetic issues identically to high-risk hazards (e.g. exposed live wires or deep open drains near schools/hospitals), causing fatal response delays.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657600"/>
            <a:ext cx="5394960" cy="2240280"/>
          </a:xfrm>
          <a:prstGeom prst="roundRect">
            <a:avLst>
              <a:gd name="adj" fmla="val 489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657600"/>
            <a:ext cx="137160" cy="2240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8404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Slow &amp; Manual Department Routing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4206240"/>
            <a:ext cx="48463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Complaints sit in general inboxes for days before being manually reviewed, categorized, and redirected to Roads, Water, Electricity, or Sanitation departments.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3657600"/>
            <a:ext cx="5394960" cy="2240280"/>
          </a:xfrm>
          <a:prstGeom prst="roundRect">
            <a:avLst>
              <a:gd name="adj" fmla="val 489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3657600"/>
            <a:ext cx="137160" cy="224028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38404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"Ghost Fixes" &amp; No Citizen Audit Loop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37960" y="4206240"/>
            <a:ext cx="48463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Contractors mark tickets "Resolved" without verifiable photo evidence or citizen sign-off, leading to citizen frustration, zero accountability, and public distrust.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37160" cy="5029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47472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WITH BHARAT 2.0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" y="530352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Solution: CivicPulse AI Intelligence Platform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11091672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WITH BHARAT 2.0  |  TEAM COSMIC DEVELOPERS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86968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CIVICPULSE PLATFORM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234440"/>
            <a:ext cx="3566160" cy="4937760"/>
          </a:xfrm>
          <a:prstGeom prst="roundRect">
            <a:avLst>
              <a:gd name="adj" fmla="val 3846"/>
            </a:avLst>
          </a:prstGeom>
          <a:solidFill>
            <a:srgbClr val="1E293B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508760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52704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 &amp; 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192024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Vision &amp; Validation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2606040"/>
            <a:ext cx="30175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Instant computer vision scan on image upload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Automatic category &amp; subcategory classification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Hazard &amp; emergency severity detection (High/Critical)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Filters fake/irrelevant non-civic photos instantly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43400" y="1234440"/>
            <a:ext cx="3566160" cy="4937760"/>
          </a:xfrm>
          <a:prstGeom prst="roundRect">
            <a:avLst>
              <a:gd name="adj" fmla="val 3846"/>
            </a:avLst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7720" y="1508760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152704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 &amp; 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17720" y="192024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Clustering &amp; Prioritization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17720" y="2606040"/>
            <a:ext cx="30175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Haversine GPS geospatial deduplication (&lt;= 50m)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Multi-signal clustering (Visual + Text + Location)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1-Click "Support Existing Issue" community upvoting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Multi-factor dynamic Priority Engine (0-100 score)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38160" y="1234440"/>
            <a:ext cx="3566160" cy="4937760"/>
          </a:xfrm>
          <a:prstGeom prst="roundRect">
            <a:avLst>
              <a:gd name="adj" fmla="val 3846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12480" y="1508760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0" y="152704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412480" y="192024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Auto-Routing &amp; Closed-Loop Fixes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12480" y="2606040"/>
            <a:ext cx="30175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Automatic routing to specific municipal department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Live authority SLA countdowns &amp; status dashboards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Mandatory contractor repair photo proof upload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Citizen verification loop: "YES, FIXED" vs "REOPEN"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37160" cy="5029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47472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WITH BHARAT 2.0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" y="530352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Architecture &amp; End-to-End Workflow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11091672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WITH BHARAT 2.0  |  TEAM COSMIC DEVELOPERS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86968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CIVICPULSE PLATFORM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280160"/>
            <a:ext cx="2011680" cy="201168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4173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17830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 Report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224028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 + GPS Tag + Description via Web/Mobile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14600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834640" y="1280160"/>
            <a:ext cx="2011680" cy="201168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4173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71800" y="17830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Vision Engine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71800" y="224028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+ Hazard &amp; Severity Scoring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00600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120640" y="1280160"/>
            <a:ext cx="2011680" cy="201168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57800" y="14173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57800" y="17830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Clustering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57800" y="224028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Haversine 50m Geo-fencing &amp; Deduplication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086600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406640" y="1280160"/>
            <a:ext cx="2011680" cy="201168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43800" y="14173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543800" y="17830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&amp; Dispatch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543800" y="224028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0-100 Score &amp; Dept Queue Routing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372600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692640" y="1280160"/>
            <a:ext cx="2011680" cy="201168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29800" y="14173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829800" y="17830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Resolution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829800" y="224028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Repair Proof Upload &amp; Citizen Sign-Off / Escalation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3566160"/>
            <a:ext cx="11091672" cy="749808"/>
          </a:xfrm>
          <a:prstGeom prst="roundRect">
            <a:avLst>
              <a:gd name="adj" fmla="val 975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8640" y="3566160"/>
            <a:ext cx="137160" cy="7498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" y="3657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&amp; Ingestion Layer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114800" y="3657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18, Vite, Tailwind CSS, Leaflet OpenStreetMap, Camera/Geolocation API, Responsive PWA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4434840"/>
            <a:ext cx="11091672" cy="749808"/>
          </a:xfrm>
          <a:prstGeom prst="roundRect">
            <a:avLst>
              <a:gd name="adj" fmla="val 975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8640" y="4434840"/>
            <a:ext cx="137160" cy="7498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2960" y="4526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Logic &amp; AI Processing Layer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114800" y="45262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21 Spring Boot 3.2, Spring Security (JWT), Vision AI Engine, Haversine Spatial Deduplicator, Priority Matrix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" y="5303520"/>
            <a:ext cx="11091672" cy="749808"/>
          </a:xfrm>
          <a:prstGeom prst="roundRect">
            <a:avLst>
              <a:gd name="adj" fmla="val 975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48640" y="5303520"/>
            <a:ext cx="137160" cy="7498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2960" y="5394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Persistence Layer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114800" y="5394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8.0 with Spatial Geo-indexing, Hibernate ORM, Evidence Storage, Audit Logs &amp; Fraud Flag DB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37160" cy="5029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47472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WITH BHARAT 2.0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" y="530352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 &amp; Implementation Approach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11091672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WITH BHARAT 2.0  |  TEAM COSMIC DEVELOPERS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86968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CIVICPULSE PLATFORM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234440"/>
            <a:ext cx="2651760" cy="4937760"/>
          </a:xfrm>
          <a:prstGeom prst="roundRect">
            <a:avLst>
              <a:gd name="adj" fmla="val 413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234440"/>
            <a:ext cx="2651760" cy="640080"/>
          </a:xfrm>
          <a:prstGeom prst="roundRect">
            <a:avLst>
              <a:gd name="adj" fmla="val 17143"/>
            </a:avLst>
          </a:prstGeom>
          <a:solidFill>
            <a:srgbClr val="131E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39903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Tier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103120"/>
            <a:ext cx="22860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React 18 + Vite (High-speed SPA)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Tailwind CSS (Glassmorphic UI)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Leaflet &amp; React-Leaflet (GIS Maps)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Recharts (Real-time analytics)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Axios with JWT auto-interceptors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1234440"/>
            <a:ext cx="2651760" cy="4937760"/>
          </a:xfrm>
          <a:prstGeom prst="roundRect">
            <a:avLst>
              <a:gd name="adj" fmla="val 413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3280" y="1234440"/>
            <a:ext cx="2651760" cy="640080"/>
          </a:xfrm>
          <a:prstGeom prst="roundRect">
            <a:avLst>
              <a:gd name="adj" fmla="val 17143"/>
            </a:avLst>
          </a:prstGeom>
          <a:solidFill>
            <a:srgbClr val="131E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0440" y="139903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Tier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66160" y="2103120"/>
            <a:ext cx="22860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Java 21 &amp; Spring Boot 3.2.x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Spring Security + JWT Stateless Auth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Spring Data JPA / Hibernate ORM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SpringDoc OpenAPI 3 (Swagger Docs)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RESTful Micro-service ready design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234440"/>
            <a:ext cx="2651760" cy="4937760"/>
          </a:xfrm>
          <a:prstGeom prst="roundRect">
            <a:avLst>
              <a:gd name="adj" fmla="val 413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1234440"/>
            <a:ext cx="2651760" cy="640080"/>
          </a:xfrm>
          <a:prstGeom prst="roundRect">
            <a:avLst>
              <a:gd name="adj" fmla="val 17143"/>
            </a:avLst>
          </a:prstGeom>
          <a:solidFill>
            <a:srgbClr val="131E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139903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Intelligence Tier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0" y="2103120"/>
            <a:ext cx="22860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Vision AI Analysis Engine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Haversine Proximity Geodesic Engine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Multi-Signal Similarity Matcher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Dynamic Mathematical Priority Scorer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EXIF &amp; Image Hash Fraud Detection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52560" y="1234440"/>
            <a:ext cx="2651760" cy="4937760"/>
          </a:xfrm>
          <a:prstGeom prst="roundRect">
            <a:avLst>
              <a:gd name="adj" fmla="val 413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52560" y="1234440"/>
            <a:ext cx="2651760" cy="640080"/>
          </a:xfrm>
          <a:prstGeom prst="roundRect">
            <a:avLst>
              <a:gd name="adj" fmla="val 17143"/>
            </a:avLst>
          </a:prstGeom>
          <a:solidFill>
            <a:srgbClr val="131E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89720" y="139903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DevOps Tier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235440" y="2103120"/>
            <a:ext cx="22860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MySQL 8.0 Relational Database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Spatial indexing on Coordinates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Docker &amp; Multi-stage Compose setup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Nginx reverse proxy for production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Cloud-native modular scalability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37160" cy="5029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47472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WITH BHARAT 2.0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" y="530352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 &amp; Unique Selling Propositions (USP)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11091672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WITH BHARAT 2.0  |  TEAM COSMIC DEVELOPERS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86968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CIVICPULSE PLATFORM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234440"/>
            <a:ext cx="5394960" cy="2240280"/>
          </a:xfrm>
          <a:prstGeom prst="roundRect">
            <a:avLst>
              <a:gd name="adj" fmla="val 489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417320"/>
            <a:ext cx="548640" cy="320040"/>
          </a:xfrm>
          <a:prstGeom prst="roundRect">
            <a:avLst>
              <a:gd name="adj" fmla="val 14286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43560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508760" y="14173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Multi-Signal Spatial Deduplication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187452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Automatically merges duplicate reports within a 50m radius using Haversine GPS distance, text, and visual matching into single master Issue Clusters. Converts spam into quantified public demand.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234440"/>
            <a:ext cx="5394960" cy="2240280"/>
          </a:xfrm>
          <a:prstGeom prst="roundRect">
            <a:avLst>
              <a:gd name="adj" fmla="val 489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92240" y="1417320"/>
            <a:ext cx="548640" cy="320040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143560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178040" y="14173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Risk-Aware Priority Algorithm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92240" y="187452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Calculates Priority (0-100) using: (Severity × 0.35) + (Citizen Impact × 0.25) + (Location Risk × 0.20) + (Duration × 0.10) + (Evidence × 0.10). Automatically prioritizes schools, hospitals &amp; transit hubs.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657600"/>
            <a:ext cx="5394960" cy="2240280"/>
          </a:xfrm>
          <a:prstGeom prst="roundRect">
            <a:avLst>
              <a:gd name="adj" fmla="val 489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3840480"/>
            <a:ext cx="548640" cy="320040"/>
          </a:xfrm>
          <a:prstGeom prst="roundRect">
            <a:avLst>
              <a:gd name="adj" fmla="val 14286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85876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508760" y="38404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Closed-Loop Citizen Verification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" y="429768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Eliminates fake ticket closures. Authorities must upload photo proof; citizens receive instant notifications and must vote "YES, FIXED" or "STILL A PROBLEM" (triggers auto-escalation).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3657600"/>
            <a:ext cx="5394960" cy="2240280"/>
          </a:xfrm>
          <a:prstGeom prst="roundRect">
            <a:avLst>
              <a:gd name="adj" fmla="val 489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92240" y="3840480"/>
            <a:ext cx="548640" cy="320040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385876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78040" y="38404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Geospatial Authority Dashboard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92240" y="429768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color-coded map pins (Critical/High/Medium), auto-filtered by municipal department jurisdiction, live SLA countdown timers, and zone hazard analytics.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37160" cy="5029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47472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WITH BHARAT 2.0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" y="530352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Feasibility, Challenges &amp; Competitor Analysis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11091672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WITH BHARAT 2.0  |  TEAM COSMIC DEVELOPERS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86968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CIVICPULSE PLATFORM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234440"/>
            <a:ext cx="5303520" cy="4937760"/>
          </a:xfrm>
          <a:prstGeom prst="roundRect">
            <a:avLst>
              <a:gd name="adj" fmla="val 222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4173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&amp; MITIGATION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178308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Technical Feasibility: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198424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Production-ready Spring Boot + React stack, Dockerized deployment, standard REST APIs for seamless Smart City integration.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2532888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Operational Feasibility: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2734056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training required for municipal staff; auto-routes issues straight to field officers by department and zone.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3282696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Challenge: Offline/Low Connectivity: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" y="3483864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Mitigation: Client-side local queueing and compressed image sync when connectivity resumes.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4032504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Challenge: Spam &amp; Fake Submissions: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423367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Mitigation: AI image validity pre-check, coordinate geo-fencing, and user trust score weighting.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1234440"/>
            <a:ext cx="5486400" cy="4937760"/>
          </a:xfrm>
          <a:prstGeom prst="roundRect">
            <a:avLst>
              <a:gd name="adj" fmla="val 222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1417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BENCHMARKING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828800"/>
          <a:ext cx="4937760" cy="402336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670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 Matrix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Traditional Apps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CivicPulse 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E35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Image Validation &amp; Severity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No (Manual)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 Real-Time AI Scan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Spatial Duplicate Clustering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Redundant Tickets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 Auto 50m Geo-Cluster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Dynamic Risk-Based Priority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FIFO / Manual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 5-Factor 0-100 Score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Automated Dept Routing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Manual Sorting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 Instant AI Routing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Citizen Verification Loop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Ghost Closures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 Dual Sign-Off Loop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37160" cy="5029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47472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WITH BHARAT 2.0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" y="530352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Links, Repository &amp; References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11091672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WITH BHARAT 2.0  |  TEAM COSMIC DEVELOPERS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86968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CIVICPULSE PLATFORM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234440"/>
            <a:ext cx="11091672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234440"/>
            <a:ext cx="137160" cy="14630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371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Repository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0" y="1371600"/>
            <a:ext cx="3200400" cy="228600"/>
          </a:xfrm>
          <a:prstGeom prst="roundRect">
            <a:avLst>
              <a:gd name="adj" fmla="val 20000"/>
            </a:avLst>
          </a:prstGeom>
          <a:solidFill>
            <a:srgbClr val="0F172A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38988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 CODEBASE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68680" y="169164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https://github.com/cosmic-developers/civicpulse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201168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full-stack source code, Docker configs, Spring Boot API, React Vite frontend &amp; seeder data.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880360"/>
            <a:ext cx="11091672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880360"/>
            <a:ext cx="137160" cy="1463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0175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&amp; Swagger Docs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0" y="3017520"/>
            <a:ext cx="3200400" cy="228600"/>
          </a:xfrm>
          <a:prstGeom prst="roundRect">
            <a:avLst>
              <a:gd name="adj" fmla="val 20000"/>
            </a:avLst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303580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PROTOTYPE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68680" y="333756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http://localhost:3000 (App)  |  http://localhost:8080/swagger-ui.html (API)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" y="365760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live access for Citizens, Roads/Sanitation Authorities, and Municipal Administrators.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4526280"/>
            <a:ext cx="11091672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526280"/>
            <a:ext cx="137160" cy="1463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46634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Standards &amp; Research References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029200" y="4663440"/>
            <a:ext cx="3200400" cy="228600"/>
          </a:xfrm>
          <a:prstGeom prst="roundRect">
            <a:avLst>
              <a:gd name="adj" fmla="val 20000"/>
            </a:avLst>
          </a:prstGeom>
          <a:solidFill>
            <a:srgbClr val="0F172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468172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GOVERNANCE FRAMEWORKS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68680" y="498348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Cities Mission Guidelines (MoHUA) &amp; GIS Spatial Standards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68680" y="530352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Ministry of Housing and Urban Affairs (MoHUA) Smart City Guidelines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Haversine Spherical Distance Metrics for Micro-Spatial Clustering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Computer Vision &amp; Image Classification in Urban Infrastructure Management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097280"/>
            <a:ext cx="9445752" cy="4572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25400">
            <a:solidFill>
              <a:srgbClr val="EA58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0" y="1645920"/>
            <a:ext cx="85313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1828800" y="2468880"/>
            <a:ext cx="8531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Cosmic Developers — CivicPulse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2926080"/>
            <a:ext cx="8531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Empowering Citizens • Streamlining Governance • Transforming Bharat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0" y="3474720"/>
            <a:ext cx="3959352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3840480"/>
            <a:ext cx="85313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for Questions &amp; Live Demonstration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28800" y="4389120"/>
            <a:ext cx="8531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With Bharat 2.0 National Level Hackathon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CivicPulse - Build With Bharat 2.0 - Cosmic Developers</dc:title>
  <dc:subject>Build With Bharat 2.0 Hackathon Presentation</dc:subject>
  <dc:creator>Cosmic Developers</dc:creator>
  <cp:lastModifiedBy>Cosmic Developers</cp:lastModifiedBy>
  <cp:revision>1</cp:revision>
  <dcterms:created xsi:type="dcterms:W3CDTF">2026-09-01T11:23:02Z</dcterms:created>
  <dcterms:modified xsi:type="dcterms:W3CDTF">2026-09-01T11:23:02Z</dcterms:modified>
</cp:coreProperties>
</file>